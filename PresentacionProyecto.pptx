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84678"/>
                </a:solidFill>
              </a:defRPr>
            </a:pPr>
            <a:r>
              <a:t>Análisis de Retailers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42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dirty="0"/>
              <a:t>Servicio de </a:t>
            </a:r>
            <a:r>
              <a:rPr dirty="0" err="1"/>
              <a:t>inteligencia</a:t>
            </a:r>
            <a:r>
              <a:rPr dirty="0"/>
              <a:t> de mercado y pricing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dirty="0"/>
              <a:t>para </a:t>
            </a:r>
            <a:r>
              <a:rPr dirty="0" err="1"/>
              <a:t>empresas</a:t>
            </a:r>
            <a:r>
              <a:rPr dirty="0"/>
              <a:t> del sector retail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Falta de visibilidad real del mercado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70475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Escasa</a:t>
            </a:r>
            <a:r>
              <a:rPr dirty="0"/>
              <a:t> </a:t>
            </a:r>
            <a:r>
              <a:rPr dirty="0" err="1"/>
              <a:t>visibilidad</a:t>
            </a:r>
            <a:r>
              <a:rPr dirty="0"/>
              <a:t> continua del mercado online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Dificultad</a:t>
            </a:r>
            <a:r>
              <a:rPr dirty="0"/>
              <a:t> para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precios</a:t>
            </a:r>
            <a:r>
              <a:rPr dirty="0"/>
              <a:t> y </a:t>
            </a:r>
            <a:r>
              <a:rPr dirty="0" err="1"/>
              <a:t>promociones</a:t>
            </a:r>
            <a:r>
              <a:rPr dirty="0"/>
              <a:t> entre retailers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zona </a:t>
            </a:r>
            <a:r>
              <a:rPr dirty="0" err="1"/>
              <a:t>geográfica</a:t>
            </a:r>
            <a:r>
              <a:rPr dirty="0"/>
              <a:t> poco </a:t>
            </a:r>
            <a:r>
              <a:rPr dirty="0" err="1"/>
              <a:t>visibles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</a:t>
            </a:r>
            <a:r>
              <a:rPr dirty="0" err="1"/>
              <a:t>dispersa</a:t>
            </a:r>
            <a:r>
              <a:rPr dirty="0"/>
              <a:t> y sin </a:t>
            </a:r>
            <a:r>
              <a:rPr dirty="0" err="1"/>
              <a:t>estructurar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Un servicio continuo para entender y comparar el mercado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71323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/>
              <a:t>Servicio </a:t>
            </a:r>
            <a:r>
              <a:rPr dirty="0" err="1"/>
              <a:t>automatizado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 de retailers online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Obtención</a:t>
            </a:r>
            <a:r>
              <a:rPr dirty="0"/>
              <a:t> continua de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, sin </a:t>
            </a:r>
            <a:r>
              <a:rPr dirty="0" err="1"/>
              <a:t>intervención</a:t>
            </a:r>
            <a:r>
              <a:rPr dirty="0"/>
              <a:t> manual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segmentado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postal para </a:t>
            </a:r>
            <a:r>
              <a:rPr dirty="0" err="1"/>
              <a:t>capturar</a:t>
            </a:r>
            <a:r>
              <a:rPr dirty="0"/>
              <a:t> </a:t>
            </a:r>
            <a:r>
              <a:rPr dirty="0" err="1"/>
              <a:t>diferencias</a:t>
            </a:r>
            <a:r>
              <a:rPr dirty="0"/>
              <a:t> reales </a:t>
            </a:r>
            <a:r>
              <a:rPr dirty="0" err="1"/>
              <a:t>por</a:t>
            </a:r>
            <a:r>
              <a:rPr dirty="0"/>
              <a:t> zona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/>
              <a:t>Datos </a:t>
            </a:r>
            <a:r>
              <a:rPr dirty="0" err="1"/>
              <a:t>tratados</a:t>
            </a:r>
            <a:r>
              <a:rPr dirty="0"/>
              <a:t>, </a:t>
            </a:r>
            <a:r>
              <a:rPr dirty="0" err="1"/>
              <a:t>estructurados</a:t>
            </a:r>
            <a:r>
              <a:rPr dirty="0"/>
              <a:t> y </a:t>
            </a:r>
            <a:r>
              <a:rPr dirty="0" err="1"/>
              <a:t>almacenados</a:t>
            </a:r>
            <a:r>
              <a:rPr dirty="0"/>
              <a:t> con histórico para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evolutivo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Qué analizamos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Una visión detallada y comparable de la oferta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685096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Surtido</a:t>
            </a:r>
            <a:r>
              <a:rPr dirty="0"/>
              <a:t> de </a:t>
            </a:r>
            <a:r>
              <a:rPr dirty="0" err="1"/>
              <a:t>productos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retailer</a:t>
            </a:r>
            <a:endParaRPr lang="es-ES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dirty="0"/>
              <a:t>	</a:t>
            </a:r>
            <a:r>
              <a:rPr lang="es-ES" sz="1600" dirty="0"/>
              <a:t>A</a:t>
            </a:r>
            <a:r>
              <a:rPr sz="1600" dirty="0" err="1"/>
              <a:t>nálisis</a:t>
            </a:r>
            <a:r>
              <a:rPr sz="1600" dirty="0"/>
              <a:t> del </a:t>
            </a:r>
            <a:r>
              <a:rPr sz="1600" dirty="0" err="1"/>
              <a:t>catálogo</a:t>
            </a:r>
            <a:r>
              <a:rPr sz="1600" dirty="0"/>
              <a:t> disponible, </a:t>
            </a:r>
            <a:r>
              <a:rPr sz="1600" dirty="0" err="1"/>
              <a:t>amplitud</a:t>
            </a:r>
            <a:r>
              <a:rPr sz="1600" dirty="0"/>
              <a:t> y </a:t>
            </a:r>
            <a:r>
              <a:rPr sz="1600" dirty="0" err="1"/>
              <a:t>presencia</a:t>
            </a:r>
            <a:r>
              <a:rPr sz="1600" dirty="0"/>
              <a:t> de</a:t>
            </a:r>
            <a:r>
              <a:rPr lang="es-ES" sz="1600" dirty="0"/>
              <a:t> </a:t>
            </a:r>
            <a:r>
              <a:rPr sz="1600" dirty="0" err="1"/>
              <a:t>categorías</a:t>
            </a:r>
            <a:r>
              <a:rPr sz="1600" dirty="0"/>
              <a:t> clave</a:t>
            </a:r>
            <a:r>
              <a:rPr lang="es-ES" sz="1600" dirty="0"/>
              <a:t>.</a:t>
            </a:r>
            <a:endParaRPr sz="16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Precios</a:t>
            </a:r>
            <a:r>
              <a:rPr dirty="0"/>
              <a:t> y </a:t>
            </a:r>
            <a:r>
              <a:rPr dirty="0" err="1"/>
              <a:t>variaciones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zona</a:t>
            </a:r>
            <a:endParaRPr lang="es-ES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dirty="0"/>
              <a:t>	</a:t>
            </a:r>
            <a:r>
              <a:rPr lang="es-ES" sz="1600" dirty="0"/>
              <a:t>E</a:t>
            </a:r>
            <a:r>
              <a:rPr sz="1600" dirty="0"/>
              <a:t>studio de </a:t>
            </a:r>
            <a:r>
              <a:rPr sz="1600" dirty="0" err="1"/>
              <a:t>precios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código</a:t>
            </a:r>
            <a:r>
              <a:rPr sz="1600" dirty="0"/>
              <a:t> postal y </a:t>
            </a:r>
            <a:r>
              <a:rPr sz="1600" dirty="0" err="1"/>
              <a:t>detección</a:t>
            </a:r>
            <a:r>
              <a:rPr sz="1600" dirty="0"/>
              <a:t> de</a:t>
            </a:r>
            <a:r>
              <a:rPr lang="es-ES" sz="1600" dirty="0"/>
              <a:t> </a:t>
            </a:r>
            <a:r>
              <a:rPr sz="1600" dirty="0" err="1"/>
              <a:t>estrategias</a:t>
            </a:r>
            <a:r>
              <a:rPr sz="1600" dirty="0"/>
              <a:t> locales</a:t>
            </a:r>
            <a:r>
              <a:rPr lang="es-ES" sz="1600" dirty="0"/>
              <a:t>.</a:t>
            </a:r>
            <a:endParaRPr sz="16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Promociones</a:t>
            </a:r>
            <a:r>
              <a:rPr dirty="0"/>
              <a:t> </a:t>
            </a:r>
            <a:r>
              <a:rPr dirty="0" err="1"/>
              <a:t>activas</a:t>
            </a:r>
            <a:endParaRPr lang="es-ES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dirty="0"/>
              <a:t>	</a:t>
            </a:r>
            <a:r>
              <a:rPr lang="es-ES" sz="1600" dirty="0"/>
              <a:t>I</a:t>
            </a:r>
            <a:r>
              <a:rPr sz="1600" dirty="0" err="1"/>
              <a:t>dentificación</a:t>
            </a:r>
            <a:r>
              <a:rPr sz="1600" dirty="0"/>
              <a:t> de </a:t>
            </a:r>
            <a:r>
              <a:rPr sz="1600" dirty="0" err="1"/>
              <a:t>tipos</a:t>
            </a:r>
            <a:r>
              <a:rPr sz="1600" dirty="0"/>
              <a:t> de </a:t>
            </a:r>
            <a:r>
              <a:rPr sz="1600" dirty="0" err="1"/>
              <a:t>promoción</a:t>
            </a:r>
            <a:r>
              <a:rPr sz="1600" dirty="0"/>
              <a:t> y </a:t>
            </a:r>
            <a:r>
              <a:rPr sz="1600" dirty="0" err="1"/>
              <a:t>su</a:t>
            </a:r>
            <a:r>
              <a:rPr sz="1600" dirty="0"/>
              <a:t> </a:t>
            </a:r>
            <a:r>
              <a:rPr sz="1600" dirty="0" err="1"/>
              <a:t>impacto</a:t>
            </a:r>
            <a:r>
              <a:rPr sz="1600" dirty="0"/>
              <a:t> </a:t>
            </a:r>
            <a:r>
              <a:rPr sz="1600" dirty="0" err="1"/>
              <a:t>sobre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precio</a:t>
            </a:r>
            <a:r>
              <a:rPr sz="1600" dirty="0"/>
              <a:t> final</a:t>
            </a:r>
            <a:r>
              <a:rPr lang="es-ES" sz="1600" dirty="0"/>
              <a:t>.</a:t>
            </a:r>
            <a:endParaRPr sz="16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geográficas</a:t>
            </a:r>
            <a:r>
              <a:rPr dirty="0"/>
              <a:t> </a:t>
            </a:r>
            <a:r>
              <a:rPr dirty="0" err="1"/>
              <a:t>relevantes</a:t>
            </a:r>
            <a:endParaRPr lang="es-ES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dirty="0"/>
              <a:t>	</a:t>
            </a:r>
            <a:r>
              <a:rPr lang="es-ES" sz="1600" dirty="0"/>
              <a:t>C</a:t>
            </a:r>
            <a:r>
              <a:rPr sz="1600" dirty="0" err="1"/>
              <a:t>omparativa</a:t>
            </a:r>
            <a:r>
              <a:rPr sz="1600" dirty="0"/>
              <a:t> entre zonas de </a:t>
            </a:r>
            <a:r>
              <a:rPr sz="1600" dirty="0" err="1"/>
              <a:t>surtido</a:t>
            </a:r>
            <a:r>
              <a:rPr sz="1600" dirty="0"/>
              <a:t>, </a:t>
            </a:r>
            <a:r>
              <a:rPr sz="1600" dirty="0" err="1"/>
              <a:t>precios</a:t>
            </a:r>
            <a:r>
              <a:rPr sz="1600" dirty="0"/>
              <a:t> y </a:t>
            </a:r>
            <a:r>
              <a:rPr sz="1600" dirty="0" err="1"/>
              <a:t>promociones</a:t>
            </a:r>
            <a:r>
              <a:rPr lang="es-ES" sz="1600" dirty="0"/>
              <a:t>.</a:t>
            </a:r>
            <a:endParaRPr sz="16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dirty="0" err="1"/>
              <a:t>Ejemplo</a:t>
            </a:r>
            <a:r>
              <a:rPr dirty="0"/>
              <a:t> actual</a:t>
            </a:r>
            <a:endParaRPr lang="es-ES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dirty="0"/>
              <a:t>	</a:t>
            </a:r>
            <a:r>
              <a:rPr sz="1600" dirty="0"/>
              <a:t>DIA y </a:t>
            </a:r>
            <a:r>
              <a:rPr sz="1600" dirty="0" err="1"/>
              <a:t>Consum</a:t>
            </a:r>
            <a:r>
              <a:rPr lang="es-ES" sz="1600" dirty="0"/>
              <a:t>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Cómo se ha creado 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Diseñado desde el inicio para ser útil, robusto y escalable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4417"/>
            <a:ext cx="64905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Desarrollo propio basado en necesidades reales del mercado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El proyecto nace a partir de casos de uso concretos de análisis de 	mercado y </a:t>
            </a:r>
            <a:r>
              <a:rPr lang="es-ES" sz="1600" dirty="0" err="1"/>
              <a:t>pricing</a:t>
            </a:r>
            <a:r>
              <a:rPr lang="es-ES" sz="1600" dirty="0"/>
              <a:t>, no como un ejercicio técnico aislado.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Uso de scripts específicos por </a:t>
            </a:r>
            <a:r>
              <a:rPr lang="es-ES" sz="2000" dirty="0" err="1"/>
              <a:t>retailer</a:t>
            </a:r>
            <a:endParaRPr lang="es-ES" sz="2000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Cada </a:t>
            </a:r>
            <a:r>
              <a:rPr lang="es-ES" sz="1600" dirty="0" err="1"/>
              <a:t>retailer</a:t>
            </a:r>
            <a:r>
              <a:rPr lang="es-ES" sz="1600" dirty="0"/>
              <a:t> dispone de su propia lógica de obtención de datos, 	permitiendo adaptarse a las particularidades de cada web y asegurar 	calidad de la información.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Separación clara de responsabilidades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Diferenciación entre la obtención de datos, su tratamiento y su 	almacenamiento, facilitando mantenimiento, control y evolución del 	sistema.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Diseño modular y escalable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Arquitectura preparada para incorporar nuevos </a:t>
            </a:r>
            <a:r>
              <a:rPr lang="es-ES" sz="1600" dirty="0" err="1"/>
              <a:t>retailers</a:t>
            </a:r>
            <a:r>
              <a:rPr lang="es-ES" sz="1600" dirty="0"/>
              <a:t> y extender el 	análisis a otros países sin rehacer la base del proyecto.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Un proceso automatizado, estructurado y repetible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684709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Obtención automática de datos desde las webs de los </a:t>
            </a:r>
            <a:r>
              <a:rPr lang="es-ES" sz="2000" dirty="0" err="1"/>
              <a:t>retailers</a:t>
            </a:r>
            <a:endParaRPr lang="es-ES" sz="2000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La información se recoge de forma automática desde las webs de los 	</a:t>
            </a:r>
            <a:r>
              <a:rPr lang="es-ES" sz="1600" dirty="0" err="1"/>
              <a:t>retailers</a:t>
            </a:r>
            <a:r>
              <a:rPr lang="es-ES" sz="1600" dirty="0"/>
              <a:t> online, garantizando consistencia y reduciendo intervención 	manual.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Aplicación de zonificación mediante código postal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El sistema simula la navegación por distintas zonas geográficas para 	capturar diferencias reales de surtido, precios y promociones.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Procesamiento y normalización de la información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Los datos obtenidos se tratan y organizan para asegurar coherencia, 	comparabilidad y calidad analítica.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Almacenamiento en una base de datos para su análisis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La información se guarda de forma estructurada, permitiendo análisis 	posteriores, comparativas y estudios evolutivos.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Tecnología utilizada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Una base tecnológica sencilla, robusta y mantenible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657864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Python como lenguaje principal de desarrollo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Utilizado para la obtención, tratamiento y carga de datos, permitiendo 	un desarrollo ágil, claro y fácilmente mantenible.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Scripts independientes adaptados a cada </a:t>
            </a:r>
            <a:r>
              <a:rPr lang="es-ES" sz="2000" dirty="0" err="1"/>
              <a:t>retailer</a:t>
            </a:r>
            <a:endParaRPr lang="es-ES" sz="2000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Cada </a:t>
            </a:r>
            <a:r>
              <a:rPr lang="es-ES" sz="1600" dirty="0" err="1"/>
              <a:t>retailer</a:t>
            </a:r>
            <a:r>
              <a:rPr lang="es-ES" sz="1600" dirty="0"/>
              <a:t> dispone de su propio script, lo que facilita la adaptación a 	cambios en las webs y reduce el impacto sobre el resto del sistema.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Archivos CSV como soporte de histórico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Los datos descargados se almacenan en archivos CSV, permitiendo 	conservar un histórico completo y separar la captura del análisis.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Base de datos MySQL para explotación y análisis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La información final se centraliza en una base de datos estructurada, 	preparada para consultas, comparativas y análisis posteriores.</a:t>
            </a: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Valor para los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Inteligencia de mercado aplicada a la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69750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Visión clara y objetiva del mercado online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Acceso a una imagen estructurada y comparable del mercado, basada en 	datos reales y actualizados.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Soporte directo a decisiones de </a:t>
            </a:r>
            <a:r>
              <a:rPr lang="es-ES" sz="2000" dirty="0" err="1"/>
              <a:t>pricing</a:t>
            </a:r>
            <a:endParaRPr lang="es-ES" sz="2000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Información fiable para definir, ajustar y validar estrategias de precios en 	función del mercado y la zona geográfica.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Análisis competitivo continuo y actualizado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Seguimiento periódico de surtido, precios y promociones de los principales 	competidores.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Servicio escalable con alta demanda en el sector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Solución preparada para crecer en alcance, volumen de datos y número de 	clientes, en un mercado con creciente necesidad de este tipo de análisis.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4678"/>
                </a:solidFill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E96"/>
                </a:solidFill>
              </a:defRPr>
            </a:pPr>
            <a:r>
              <a:t>Escalar el servicio y consolidarlo como producto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2800"/>
            <a:ext cx="669787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Incorporar nuevos </a:t>
            </a:r>
            <a:r>
              <a:rPr lang="es-ES" sz="2000" dirty="0" err="1"/>
              <a:t>retailers</a:t>
            </a:r>
            <a:r>
              <a:rPr lang="es-ES" sz="2000" dirty="0"/>
              <a:t> al servicio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Ampliar progresivamente la cobertura del mercado para aumentar el 	valor del análisis y el interés para los clientes.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Crear comparativas entre </a:t>
            </a:r>
            <a:r>
              <a:rPr lang="es-ES" sz="2000" dirty="0" err="1"/>
              <a:t>retailers</a:t>
            </a:r>
            <a:endParaRPr lang="es-ES" sz="2000"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Permitir análisis directos entre competidores en términos de surtido, 	precios y promociones, facilitando la toma de decisiones estratégicas.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Normalizar categorías, promociones y marcas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Definir estructuras maestras comunes que permitan comparaciones 	homogéneas y análisis más profundos entre distintos </a:t>
            </a:r>
            <a:r>
              <a:rPr lang="es-ES" sz="1600" dirty="0" err="1"/>
              <a:t>retailers</a:t>
            </a:r>
            <a:r>
              <a:rPr lang="es-ES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C3C3C"/>
                </a:solidFill>
              </a:defRPr>
            </a:pPr>
            <a:r>
              <a:rPr lang="es-ES" sz="2000" dirty="0"/>
              <a:t>Desarrollar una plataforma web con </a:t>
            </a:r>
            <a:r>
              <a:rPr lang="es-ES" sz="2000" dirty="0" err="1"/>
              <a:t>dashboards</a:t>
            </a:r>
            <a:r>
              <a:rPr lang="es-ES" sz="2000" dirty="0"/>
              <a:t> y descargas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lang="es-ES" sz="1600" dirty="0"/>
              <a:t>	Evolucionar el servicio hacia una solución digital para clientes, con acceso 	visual a la información, filtros de análisis y descarga de datos.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838</Words>
  <Application>Microsoft Office PowerPoint</Application>
  <PresentationFormat>Presentación en pantalla (4:3)</PresentationFormat>
  <Paragraphs>77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Eneko Garde</cp:lastModifiedBy>
  <cp:revision>3</cp:revision>
  <dcterms:created xsi:type="dcterms:W3CDTF">2013-01-27T09:14:16Z</dcterms:created>
  <dcterms:modified xsi:type="dcterms:W3CDTF">2026-02-17T18:51:13Z</dcterms:modified>
  <cp:category/>
</cp:coreProperties>
</file>